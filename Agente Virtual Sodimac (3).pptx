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image" Target="../media/image-7-29.png"/><Relationship Id="rId30" Type="http://schemas.openxmlformats.org/officeDocument/2006/relationships/image" Target="../media/image-7-30.png"/><Relationship Id="rId31" Type="http://schemas.openxmlformats.org/officeDocument/2006/relationships/image" Target="../media/image-7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762000"/>
            <a:ext cx="609600" cy="609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4724400"/>
            <a:ext cx="914400" cy="914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2286000"/>
            <a:ext cx="762000" cy="762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051" y="116205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8651" y="3371850"/>
            <a:ext cx="914400" cy="38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0001" y="5353050"/>
            <a:ext cx="36195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6751" y="5353050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7301" y="5353050"/>
            <a:ext cx="247650" cy="342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9751" y="5353050"/>
            <a:ext cx="361950" cy="3429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996925" y="1314450"/>
            <a:ext cx="1977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</a:t>
            </a:r>
            <a:endParaRPr lang="en-US" sz="1800" dirty="0"/>
          </a:p>
        </p:txBody>
      </p:sp>
      <p:sp>
        <p:nvSpPr>
          <p:cNvPr id="15" name="Text 1"/>
          <p:cNvSpPr/>
          <p:nvPr/>
        </p:nvSpPr>
        <p:spPr>
          <a:xfrm>
            <a:off x="2294468" y="2000250"/>
            <a:ext cx="76029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spc="72" kern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</a:t>
            </a:r>
            <a:endParaRPr lang="en-US" sz="3600" dirty="0"/>
          </a:p>
        </p:txBody>
      </p:sp>
      <p:sp>
        <p:nvSpPr>
          <p:cNvPr id="16" name="Text 2"/>
          <p:cNvSpPr/>
          <p:nvPr/>
        </p:nvSpPr>
        <p:spPr>
          <a:xfrm>
            <a:off x="2294468" y="2609850"/>
            <a:ext cx="76029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DBA7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Optimización de atención al cliente mediante IA y RAG</a:t>
            </a:r>
            <a:endParaRPr lang="en-US" sz="1800" dirty="0"/>
          </a:p>
        </p:txBody>
      </p:sp>
      <p:sp>
        <p:nvSpPr>
          <p:cNvPr id="17" name="Text 3"/>
          <p:cNvSpPr/>
          <p:nvPr/>
        </p:nvSpPr>
        <p:spPr>
          <a:xfrm>
            <a:off x="3409072" y="3867150"/>
            <a:ext cx="53737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Integrantes: 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Claudio Castillo, Ignacio Calderón </a:t>
            </a:r>
            <a:endParaRPr lang="en-US" sz="1500" dirty="0"/>
          </a:p>
        </p:txBody>
      </p:sp>
      <p:sp>
        <p:nvSpPr>
          <p:cNvPr id="18" name="Text 4"/>
          <p:cNvSpPr/>
          <p:nvPr/>
        </p:nvSpPr>
        <p:spPr>
          <a:xfrm>
            <a:off x="3716075" y="4248150"/>
            <a:ext cx="47597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Curso: 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Desarrollo de Aplicaciones Móviles</a:t>
            </a:r>
            <a:endParaRPr lang="en-US" sz="1500" dirty="0"/>
          </a:p>
        </p:txBody>
      </p:sp>
      <p:sp>
        <p:nvSpPr>
          <p:cNvPr id="19" name="Text 5"/>
          <p:cNvSpPr/>
          <p:nvPr/>
        </p:nvSpPr>
        <p:spPr>
          <a:xfrm>
            <a:off x="5021595" y="4629150"/>
            <a:ext cx="2148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Fecha: </a:t>
            </a:r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2025-11-26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52500"/>
            <a:ext cx="5562600" cy="5600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4384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8862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952500"/>
            <a:ext cx="5562600" cy="5600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12192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200" y="1600200"/>
            <a:ext cx="1600200" cy="1181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3763" y="1752600"/>
            <a:ext cx="219075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5800" y="1600200"/>
            <a:ext cx="1600200" cy="1181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3025" y="175260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0" y="1600200"/>
            <a:ext cx="1600200" cy="11811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15625" y="1752600"/>
            <a:ext cx="28575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3048000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3390900"/>
            <a:ext cx="5105400" cy="1828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04800" y="152400"/>
            <a:ext cx="47473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Contexto Organizacional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19" name="Text 2"/>
          <p:cNvSpPr/>
          <p:nvPr/>
        </p:nvSpPr>
        <p:spPr>
          <a:xfrm>
            <a:off x="533400" y="1181100"/>
            <a:ext cx="510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Sodimac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533400" y="1638300"/>
            <a:ext cx="5105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Líder en construcción y mejoramiento del hogar con amplia gama de productos y servicios.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800100" y="24003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Problema Actual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571500" y="2781300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Información dispersa en múltiples fuentes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571500" y="3086100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Atención lenta e ineficiente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571500" y="3390900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Dificultad para encontrar información precisa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800100" y="38481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Objetivo Propuesto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762000" y="4229100"/>
            <a:ext cx="510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Desarrollar un agente virtual basado en LLM + RAG que centralice el conocimiento de la empresa y optimice la atención al cliente.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6819900" y="11811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Impacto Esperado</a:t>
            </a:r>
            <a:endParaRPr lang="en-US" sz="1500" dirty="0"/>
          </a:p>
        </p:txBody>
      </p:sp>
      <p:sp>
        <p:nvSpPr>
          <p:cNvPr id="28" name="Text 11"/>
          <p:cNvSpPr/>
          <p:nvPr/>
        </p:nvSpPr>
        <p:spPr>
          <a:xfrm>
            <a:off x="6705600" y="2171700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Respuestas Rápidas</a:t>
            </a:r>
            <a:endParaRPr lang="en-US" sz="1200" dirty="0"/>
          </a:p>
        </p:txBody>
      </p:sp>
      <p:sp>
        <p:nvSpPr>
          <p:cNvPr id="29" name="Text 12"/>
          <p:cNvSpPr/>
          <p:nvPr/>
        </p:nvSpPr>
        <p:spPr>
          <a:xfrm>
            <a:off x="8458200" y="2171700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Coherencia y Precisión</a:t>
            </a:r>
            <a:endParaRPr lang="en-US" sz="1200" dirty="0"/>
          </a:p>
        </p:txBody>
      </p:sp>
      <p:sp>
        <p:nvSpPr>
          <p:cNvPr id="30" name="Text 13"/>
          <p:cNvSpPr/>
          <p:nvPr/>
        </p:nvSpPr>
        <p:spPr>
          <a:xfrm>
            <a:off x="10081260" y="21717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Trazabilidad</a:t>
            </a:r>
            <a:endParaRPr lang="en-US" sz="1200" dirty="0"/>
          </a:p>
        </p:txBody>
      </p:sp>
      <p:sp>
        <p:nvSpPr>
          <p:cNvPr id="31" name="Text 14"/>
          <p:cNvSpPr/>
          <p:nvPr/>
        </p:nvSpPr>
        <p:spPr>
          <a:xfrm>
            <a:off x="6819900" y="3009900"/>
            <a:ext cx="6126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Comparativa de Procesos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6300"/>
            <a:ext cx="5715000" cy="5905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362200"/>
            <a:ext cx="5334000" cy="1257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14600"/>
            <a:ext cx="30480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2619375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3771900"/>
            <a:ext cx="5334000" cy="1257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924300"/>
            <a:ext cx="285750" cy="381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4029075"/>
            <a:ext cx="133350" cy="1524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5181600"/>
            <a:ext cx="5334000" cy="12573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334000"/>
            <a:ext cx="304800" cy="381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543877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876300"/>
            <a:ext cx="5715000" cy="5905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1524000"/>
            <a:ext cx="5334000" cy="2590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5038725"/>
            <a:ext cx="133350" cy="17145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04800" y="152400"/>
            <a:ext cx="47195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Formulación de Prompts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19" name="Text 2"/>
          <p:cNvSpPr/>
          <p:nvPr/>
        </p:nvSpPr>
        <p:spPr>
          <a:xfrm>
            <a:off x="419100" y="10668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Estrategias Clave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419100" y="1524000"/>
            <a:ext cx="533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 diseño de prompts es fundamental para controlar el comportamiento del LLM y asegurar que las respuestas del Agente Virtual Sodimac sean precisas, relevantes y fiables.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990600" y="25146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Context Grounding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990600" y="2781300"/>
            <a:ext cx="4610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Fuerza al LLM a basar sus respuestas exclusivamente en la información recuperada de la base de conocimiento. Evita "alucinaciones" o respuestas inventadas.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971550" y="39243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Control de Format</a:t>
            </a:r>
            <a:endParaRPr lang="en-US" sz="1350" dirty="0"/>
          </a:p>
        </p:txBody>
      </p:sp>
      <p:sp>
        <p:nvSpPr>
          <p:cNvPr id="24" name="Text 7"/>
          <p:cNvSpPr/>
          <p:nvPr/>
        </p:nvSpPr>
        <p:spPr>
          <a:xfrm>
            <a:off x="971550" y="4191000"/>
            <a:ext cx="4629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Instruye al LLM para que genere respuestas concisas y breves, siempre citando la fuente del documento original donde extrajo la información.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990600" y="5334000"/>
            <a:ext cx="461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Fallback</a:t>
            </a:r>
            <a:endParaRPr lang="en-US" sz="1350" dirty="0"/>
          </a:p>
        </p:txBody>
      </p:sp>
      <p:sp>
        <p:nvSpPr>
          <p:cNvPr id="26" name="Text 9"/>
          <p:cNvSpPr/>
          <p:nvPr/>
        </p:nvSpPr>
        <p:spPr>
          <a:xfrm>
            <a:off x="990600" y="5600700"/>
            <a:ext cx="4610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 una respuesta predeterminada cuando el LLM no encuentra información relevante en la base de conocimiento, evitando respuestas especulativas.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6438900" y="1066800"/>
            <a:ext cx="640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Ejemplo de Prompt Estructurado</a:t>
            </a:r>
            <a:endParaRPr lang="en-US" sz="1800" dirty="0"/>
          </a:p>
        </p:txBody>
      </p:sp>
      <p:sp>
        <p:nvSpPr>
          <p:cNvPr id="28" name="Text 11"/>
          <p:cNvSpPr/>
          <p:nvPr/>
        </p:nvSpPr>
        <p:spPr>
          <a:xfrm>
            <a:off x="6591300" y="1695450"/>
            <a:ext cx="14484251" cy="2247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"Eres un asistente virtual de Sodimac. Responde a la pregunta del usuario basándote únicamente en el siguiente contexto: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Contexto: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{fragmentos_recuperados}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Pregunta del usuario: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{pregunta_del_usuario}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Instrucciones: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1. Si la respuesta está en el contexto, sé conciso y cita la fuente (ej. [Fuente: Catálogo de Productos]).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2. Si la respuesta no está en el contexto, responde: 'Lo siento, no tengo información sobre eso en este momento. Por favor, consulta nuestro sitio web o contacta a un especialista.'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3. No inventes información."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6648450" y="4991100"/>
            <a:ext cx="6400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Beneficios de la Estrategia</a:t>
            </a:r>
            <a:endParaRPr lang="en-US" sz="1350" dirty="0"/>
          </a:p>
        </p:txBody>
      </p:sp>
      <p:sp>
        <p:nvSpPr>
          <p:cNvPr id="30" name="Text 13"/>
          <p:cNvSpPr/>
          <p:nvPr/>
        </p:nvSpPr>
        <p:spPr>
          <a:xfrm>
            <a:off x="6477000" y="5334000"/>
            <a:ext cx="529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Garantiza que todas las respuestas estén fundamentadas en documentos verificables</a:t>
            </a:r>
            <a:endParaRPr lang="en-US" sz="1200" dirty="0"/>
          </a:p>
        </p:txBody>
      </p:sp>
      <p:sp>
        <p:nvSpPr>
          <p:cNvPr id="31" name="Text 14"/>
          <p:cNvSpPr/>
          <p:nvPr/>
        </p:nvSpPr>
        <p:spPr>
          <a:xfrm>
            <a:off x="6477000" y="582930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Añade trazabilidad y credibilidad a las respuestas</a:t>
            </a:r>
            <a:endParaRPr lang="en-US" sz="1200" dirty="0"/>
          </a:p>
        </p:txBody>
      </p:sp>
      <p:sp>
        <p:nvSpPr>
          <p:cNvPr id="32" name="Text 15"/>
          <p:cNvSpPr/>
          <p:nvPr/>
        </p:nvSpPr>
        <p:spPr>
          <a:xfrm>
            <a:off x="6477000" y="609600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Evita la generación de información incorrecta o especulativa</a:t>
            </a:r>
            <a:endParaRPr lang="en-US" sz="1200" dirty="0"/>
          </a:p>
        </p:txBody>
      </p:sp>
      <p:sp>
        <p:nvSpPr>
          <p:cNvPr id="33" name="Text 16"/>
          <p:cNvSpPr/>
          <p:nvPr/>
        </p:nvSpPr>
        <p:spPr>
          <a:xfrm>
            <a:off x="6477000" y="636270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Mejora la experiencia del cliente con respuestas precisas y útiles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8191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52500"/>
            <a:ext cx="11582400" cy="1181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362200"/>
            <a:ext cx="2438400" cy="2209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2514600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463" y="2647950"/>
            <a:ext cx="219075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6563" y="2362200"/>
            <a:ext cx="142875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2800" y="2362200"/>
            <a:ext cx="2438400" cy="2400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2514600"/>
            <a:ext cx="609600" cy="609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1025" y="2647950"/>
            <a:ext cx="361950" cy="342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24563" y="2362200"/>
            <a:ext cx="142875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362200"/>
            <a:ext cx="2438400" cy="24003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0" y="251460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6175" y="2647950"/>
            <a:ext cx="247650" cy="342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72563" y="2362200"/>
            <a:ext cx="142875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48800" y="2362200"/>
            <a:ext cx="2438400" cy="19431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63200" y="2514600"/>
            <a:ext cx="609600" cy="6096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4175" y="2647950"/>
            <a:ext cx="247650" cy="3429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4800" y="4991100"/>
            <a:ext cx="5676900" cy="28956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5300" y="5219700"/>
            <a:ext cx="238125" cy="1905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10300" y="4991100"/>
            <a:ext cx="5676900" cy="28956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5219700"/>
            <a:ext cx="190500" cy="1905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04800" y="152400"/>
            <a:ext cx="41946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 RAG: Ingesta</a:t>
            </a:r>
            <a:endParaRPr lang="en-US" sz="2250" dirty="0"/>
          </a:p>
        </p:txBody>
      </p:sp>
      <p:sp>
        <p:nvSpPr>
          <p:cNvPr id="25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26" name="Text 2"/>
          <p:cNvSpPr/>
          <p:nvPr/>
        </p:nvSpPr>
        <p:spPr>
          <a:xfrm>
            <a:off x="495300" y="1143000"/>
            <a:ext cx="112014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primera fase del pipeline RAG se centra en la preparación y almacenamiento eficiente del conocimiento de Sodimac. Este proceso incluye herramientas especializadas para recuperación de información interna y externa, y facilita la generación de reportes.</a:t>
            </a:r>
            <a:endParaRPr lang="en-US" sz="1350" dirty="0"/>
          </a:p>
        </p:txBody>
      </p:sp>
      <p:sp>
        <p:nvSpPr>
          <p:cNvPr id="27" name="Text 3"/>
          <p:cNvSpPr/>
          <p:nvPr/>
        </p:nvSpPr>
        <p:spPr>
          <a:xfrm>
            <a:off x="457200" y="32385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Ingesta de Documentos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457200" y="3848100"/>
            <a:ext cx="2133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 cargan fichas técnicas, catálogos, manuales y políticas internas de Sodimac.</a:t>
            </a:r>
            <a:endParaRPr lang="en-US" sz="1050" dirty="0"/>
          </a:p>
        </p:txBody>
      </p:sp>
      <p:sp>
        <p:nvSpPr>
          <p:cNvPr id="29" name="Text 5"/>
          <p:cNvSpPr/>
          <p:nvPr/>
        </p:nvSpPr>
        <p:spPr>
          <a:xfrm>
            <a:off x="3505200" y="32385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Preprocesamiento</a:t>
            </a:r>
            <a:endParaRPr lang="en-US" sz="1500" dirty="0"/>
          </a:p>
        </p:txBody>
      </p:sp>
      <p:sp>
        <p:nvSpPr>
          <p:cNvPr id="30" name="Text 6"/>
          <p:cNvSpPr/>
          <p:nvPr/>
        </p:nvSpPr>
        <p:spPr>
          <a:xfrm>
            <a:off x="3505200" y="384810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Limpieza de texto y fragmentación en "chunks" de 600 tokens con 20% de solapamiento.</a:t>
            </a:r>
            <a:endParaRPr lang="en-US" sz="1050" dirty="0"/>
          </a:p>
        </p:txBody>
      </p:sp>
      <p:sp>
        <p:nvSpPr>
          <p:cNvPr id="31" name="Text 7"/>
          <p:cNvSpPr/>
          <p:nvPr/>
        </p:nvSpPr>
        <p:spPr>
          <a:xfrm>
            <a:off x="6553200" y="32385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Generación de Embeddings</a:t>
            </a:r>
            <a:endParaRPr lang="en-US" sz="1500" dirty="0"/>
          </a:p>
        </p:txBody>
      </p:sp>
      <p:sp>
        <p:nvSpPr>
          <p:cNvPr id="32" name="Text 8"/>
          <p:cNvSpPr/>
          <p:nvPr/>
        </p:nvSpPr>
        <p:spPr>
          <a:xfrm>
            <a:off x="6553200" y="384810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Cada fragmento se convierte en un vector numérico de alta dimensión utilizando el modelo MiniLM.</a:t>
            </a:r>
            <a:endParaRPr lang="en-US" sz="1050" dirty="0"/>
          </a:p>
        </p:txBody>
      </p:sp>
      <p:sp>
        <p:nvSpPr>
          <p:cNvPr id="33" name="Text 9"/>
          <p:cNvSpPr/>
          <p:nvPr/>
        </p:nvSpPr>
        <p:spPr>
          <a:xfrm>
            <a:off x="9387840" y="3238500"/>
            <a:ext cx="25603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Almacenamiento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9601200" y="3581400"/>
            <a:ext cx="2133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Los embeddings se indexan y almacenan en una base de datos vectorial FAISS.</a:t>
            </a:r>
            <a:endParaRPr lang="en-US" sz="1050" dirty="0"/>
          </a:p>
        </p:txBody>
      </p:sp>
      <p:sp>
        <p:nvSpPr>
          <p:cNvPr id="35" name="Text 11"/>
          <p:cNvSpPr/>
          <p:nvPr/>
        </p:nvSpPr>
        <p:spPr>
          <a:xfrm>
            <a:off x="809625" y="5181600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Detalles Técnicos</a:t>
            </a:r>
            <a:endParaRPr lang="en-US" sz="1500" dirty="0"/>
          </a:p>
        </p:txBody>
      </p:sp>
      <p:sp>
        <p:nvSpPr>
          <p:cNvPr id="36" name="Text 12"/>
          <p:cNvSpPr/>
          <p:nvPr/>
        </p:nvSpPr>
        <p:spPr>
          <a:xfrm>
            <a:off x="533400" y="55626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Tamaño de fragmentos: 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600 tokens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533400" y="58674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Solapamiento: 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20% entre fragmentos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533400" y="61722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Modelo de embeddings: 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MiniLM</a:t>
            </a:r>
            <a:endParaRPr lang="en-US" sz="1200" dirty="0"/>
          </a:p>
        </p:txBody>
      </p:sp>
      <p:sp>
        <p:nvSpPr>
          <p:cNvPr id="39" name="Text 15"/>
          <p:cNvSpPr/>
          <p:nvPr/>
        </p:nvSpPr>
        <p:spPr>
          <a:xfrm>
            <a:off x="533400" y="64770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 de datos: 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FAISS (Facebook AI Similarity Search)</a:t>
            </a:r>
            <a:endParaRPr lang="en-US" sz="1200" dirty="0"/>
          </a:p>
        </p:txBody>
      </p:sp>
      <p:sp>
        <p:nvSpPr>
          <p:cNvPr id="40" name="Text 16"/>
          <p:cNvSpPr/>
          <p:nvPr/>
        </p:nvSpPr>
        <p:spPr>
          <a:xfrm>
            <a:off x="6667500" y="5181600"/>
            <a:ext cx="6355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Beneficios de la Ingesta</a:t>
            </a:r>
            <a:endParaRPr lang="en-US" sz="1500" dirty="0"/>
          </a:p>
        </p:txBody>
      </p:sp>
      <p:sp>
        <p:nvSpPr>
          <p:cNvPr id="41" name="Text 17"/>
          <p:cNvSpPr/>
          <p:nvPr/>
        </p:nvSpPr>
        <p:spPr>
          <a:xfrm>
            <a:off x="6438900" y="55626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Estructuración: 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Convierte información dispersa en datos organizados</a:t>
            </a:r>
            <a:endParaRPr lang="en-US" sz="1200" dirty="0"/>
          </a:p>
        </p:txBody>
      </p:sp>
      <p:sp>
        <p:nvSpPr>
          <p:cNvPr id="42" name="Text 18"/>
          <p:cNvSpPr/>
          <p:nvPr/>
        </p:nvSpPr>
        <p:spPr>
          <a:xfrm>
            <a:off x="6438900" y="60960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Optimización: 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Preparación específica para búsqueda semántica</a:t>
            </a:r>
            <a:endParaRPr lang="en-US" sz="1200" dirty="0"/>
          </a:p>
        </p:txBody>
      </p:sp>
      <p:sp>
        <p:nvSpPr>
          <p:cNvPr id="43" name="Text 19"/>
          <p:cNvSpPr/>
          <p:nvPr/>
        </p:nvSpPr>
        <p:spPr>
          <a:xfrm>
            <a:off x="6438900" y="64008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Cohesión: 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Fragmentos solapados mantienen continuidad del contexto</a:t>
            </a:r>
            <a:endParaRPr lang="en-US" sz="1200" dirty="0"/>
          </a:p>
        </p:txBody>
      </p:sp>
      <p:sp>
        <p:nvSpPr>
          <p:cNvPr id="44" name="Text 20"/>
          <p:cNvSpPr/>
          <p:nvPr/>
        </p:nvSpPr>
        <p:spPr>
          <a:xfrm>
            <a:off x="6438900" y="69342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Herramientas especializadas: 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Recuperación de información interna y externa</a:t>
            </a:r>
            <a:endParaRPr lang="en-US" sz="1200" dirty="0"/>
          </a:p>
        </p:txBody>
      </p:sp>
      <p:sp>
        <p:nvSpPr>
          <p:cNvPr id="45" name="Text 21"/>
          <p:cNvSpPr/>
          <p:nvPr/>
        </p:nvSpPr>
        <p:spPr>
          <a:xfrm>
            <a:off x="6438900" y="74676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Accesibilidad: </a:t>
            </a:r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Indexación que permite recuperación rápida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95400"/>
            <a:ext cx="11734800" cy="762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286000"/>
            <a:ext cx="2819400" cy="1676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514600"/>
            <a:ext cx="34796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068" y="2571750"/>
            <a:ext cx="123825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2286000"/>
            <a:ext cx="2819400" cy="1676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2800" y="2514600"/>
            <a:ext cx="326380" cy="381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0666" y="257175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2286000"/>
            <a:ext cx="2819400" cy="1676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2514600"/>
            <a:ext cx="361950" cy="381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4138" y="2571750"/>
            <a:ext cx="142875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0" y="2286000"/>
            <a:ext cx="2819400" cy="1676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96400" y="2514600"/>
            <a:ext cx="325487" cy="3810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63819" y="257175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8600" y="4191000"/>
            <a:ext cx="11734800" cy="2095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4419600"/>
            <a:ext cx="142875" cy="1905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100" y="4762500"/>
            <a:ext cx="5562600" cy="13335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4762500"/>
            <a:ext cx="5562600" cy="13335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04800" y="152400"/>
            <a:ext cx="44378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 RAG: Consulta</a:t>
            </a:r>
            <a:endParaRPr lang="en-US" sz="2250" dirty="0"/>
          </a:p>
        </p:txBody>
      </p:sp>
      <p:sp>
        <p:nvSpPr>
          <p:cNvPr id="22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23" name="Text 2"/>
          <p:cNvSpPr/>
          <p:nvPr/>
        </p:nvSpPr>
        <p:spPr>
          <a:xfrm>
            <a:off x="-944880" y="876300"/>
            <a:ext cx="14081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Segunda fase del pipeline RAG que abarca la recuperación de información, gestión de memoria y generación de respuestas.</a:t>
            </a:r>
            <a:endParaRPr lang="en-US" sz="1350" dirty="0"/>
          </a:p>
        </p:txBody>
      </p:sp>
      <p:sp>
        <p:nvSpPr>
          <p:cNvPr id="24" name="Text 3"/>
          <p:cNvSpPr/>
          <p:nvPr/>
        </p:nvSpPr>
        <p:spPr>
          <a:xfrm>
            <a:off x="843260" y="2438400"/>
            <a:ext cx="20523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Consulta del Usuario</a:t>
            </a:r>
            <a:endParaRPr lang="en-US" sz="1350" dirty="0"/>
          </a:p>
        </p:txBody>
      </p:sp>
      <p:sp>
        <p:nvSpPr>
          <p:cNvPr id="25" name="Text 4"/>
          <p:cNvSpPr/>
          <p:nvPr/>
        </p:nvSpPr>
        <p:spPr>
          <a:xfrm>
            <a:off x="381000" y="304800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Pregunta formulada por el usuario transformada a vector (embedding) con MiniLM.</a:t>
            </a:r>
            <a:endParaRPr lang="en-US" sz="1050" dirty="0"/>
          </a:p>
        </p:txBody>
      </p:sp>
      <p:sp>
        <p:nvSpPr>
          <p:cNvPr id="26" name="Text 5"/>
          <p:cNvSpPr/>
          <p:nvPr/>
        </p:nvSpPr>
        <p:spPr>
          <a:xfrm>
            <a:off x="3793480" y="2438400"/>
            <a:ext cx="20739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Búsqueda de Similitud</a:t>
            </a:r>
            <a:endParaRPr lang="en-US" sz="1350" dirty="0"/>
          </a:p>
        </p:txBody>
      </p:sp>
      <p:sp>
        <p:nvSpPr>
          <p:cNvPr id="27" name="Text 6"/>
          <p:cNvSpPr/>
          <p:nvPr/>
        </p:nvSpPr>
        <p:spPr>
          <a:xfrm>
            <a:off x="3352800" y="3048000"/>
            <a:ext cx="2514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 buscan los 5 fragmentos de texto más relevantes en FAISS basados en similitud coseno.</a:t>
            </a:r>
            <a:endParaRPr lang="en-US" sz="1050" dirty="0"/>
          </a:p>
        </p:txBody>
      </p:sp>
      <p:sp>
        <p:nvSpPr>
          <p:cNvPr id="28" name="Text 7"/>
          <p:cNvSpPr/>
          <p:nvPr/>
        </p:nvSpPr>
        <p:spPr>
          <a:xfrm>
            <a:off x="6800850" y="2438400"/>
            <a:ext cx="2038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Manejo de Memoria</a:t>
            </a:r>
            <a:endParaRPr lang="en-US" sz="1350" dirty="0"/>
          </a:p>
        </p:txBody>
      </p:sp>
      <p:sp>
        <p:nvSpPr>
          <p:cNvPr id="29" name="Text 8"/>
          <p:cNvSpPr/>
          <p:nvPr/>
        </p:nvSpPr>
        <p:spPr>
          <a:xfrm>
            <a:off x="6324600" y="3048000"/>
            <a:ext cx="2514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Implementación de memoria a largo y corto plazo para mantener el contexto de conversaciones más largas.</a:t>
            </a:r>
            <a:endParaRPr lang="en-US" sz="1050" dirty="0"/>
          </a:p>
        </p:txBody>
      </p:sp>
      <p:sp>
        <p:nvSpPr>
          <p:cNvPr id="30" name="Text 9"/>
          <p:cNvSpPr/>
          <p:nvPr/>
        </p:nvSpPr>
        <p:spPr>
          <a:xfrm>
            <a:off x="9736187" y="2438400"/>
            <a:ext cx="20748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Planificación Dinámica</a:t>
            </a:r>
            <a:endParaRPr lang="en-US" sz="1350" dirty="0"/>
          </a:p>
        </p:txBody>
      </p:sp>
      <p:sp>
        <p:nvSpPr>
          <p:cNvPr id="31" name="Text 10"/>
          <p:cNvSpPr/>
          <p:nvPr/>
        </p:nvSpPr>
        <p:spPr>
          <a:xfrm>
            <a:off x="9296400" y="3048000"/>
            <a:ext cx="2514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Ciclo de planificación que permite adaptación en función de la información recuperada para generación óptima.</a:t>
            </a:r>
            <a:endParaRPr lang="en-US" sz="1050" dirty="0"/>
          </a:p>
        </p:txBody>
      </p:sp>
      <p:sp>
        <p:nvSpPr>
          <p:cNvPr id="32" name="Text 11"/>
          <p:cNvSpPr/>
          <p:nvPr/>
        </p:nvSpPr>
        <p:spPr>
          <a:xfrm>
            <a:off x="638175" y="4381500"/>
            <a:ext cx="11353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Ejemplo de Consulta y Respuesta</a:t>
            </a:r>
            <a:endParaRPr lang="en-US" sz="1500" dirty="0"/>
          </a:p>
        </p:txBody>
      </p:sp>
      <p:sp>
        <p:nvSpPr>
          <p:cNvPr id="33" name="Text 12"/>
          <p:cNvSpPr/>
          <p:nvPr/>
        </p:nvSpPr>
        <p:spPr>
          <a:xfrm>
            <a:off x="571500" y="49149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Pregunta del Usuario: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571500" y="52197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"¿Cuál es la garantía de la sierra circular Bosch GKS 190?"</a:t>
            </a:r>
            <a:endParaRPr lang="en-US" sz="1200" dirty="0"/>
          </a:p>
        </p:txBody>
      </p:sp>
      <p:sp>
        <p:nvSpPr>
          <p:cNvPr id="35" name="Text 14"/>
          <p:cNvSpPr/>
          <p:nvPr/>
        </p:nvSpPr>
        <p:spPr>
          <a:xfrm>
            <a:off x="6362700" y="49149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Respuesta del Agente Virtual:</a:t>
            </a:r>
            <a:endParaRPr lang="en-US" sz="1200" dirty="0"/>
          </a:p>
        </p:txBody>
      </p:sp>
      <p:sp>
        <p:nvSpPr>
          <p:cNvPr id="36" name="Text 15"/>
          <p:cNvSpPr/>
          <p:nvPr/>
        </p:nvSpPr>
        <p:spPr>
          <a:xfrm>
            <a:off x="6362700" y="52197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"La sierra circular Bosch GKS 190 cuenta con una garantía de 1 año."</a:t>
            </a:r>
            <a:endParaRPr lang="en-US" sz="1200" dirty="0"/>
          </a:p>
        </p:txBody>
      </p:sp>
      <p:sp>
        <p:nvSpPr>
          <p:cNvPr id="37" name="Text 16"/>
          <p:cNvSpPr/>
          <p:nvPr/>
        </p:nvSpPr>
        <p:spPr>
          <a:xfrm>
            <a:off x="6362700" y="5753100"/>
            <a:ext cx="6309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Fuente: Ficha Técnica Sierra Circular Bosch GKS 190, Sodimac.com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734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6300"/>
            <a:ext cx="11734800" cy="6629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485900"/>
            <a:ext cx="10477500" cy="3619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5257800"/>
            <a:ext cx="3708350" cy="1066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5419725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1750" y="5257800"/>
            <a:ext cx="3708350" cy="1066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6050" y="5419725"/>
            <a:ext cx="190500" cy="1714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2501" y="5257800"/>
            <a:ext cx="3708499" cy="1066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6801" y="5419725"/>
            <a:ext cx="219075" cy="1714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6477000"/>
            <a:ext cx="3708350" cy="876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6638925"/>
            <a:ext cx="152400" cy="1714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1750" y="6477000"/>
            <a:ext cx="3708350" cy="8763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56050" y="6638925"/>
            <a:ext cx="219075" cy="1714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02501" y="6477000"/>
            <a:ext cx="3708499" cy="8763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6801" y="6638925"/>
            <a:ext cx="133350" cy="17145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04800" y="152400"/>
            <a:ext cx="52797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Arquitectura de la Solución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20" name="Text 2"/>
          <p:cNvSpPr/>
          <p:nvPr/>
        </p:nvSpPr>
        <p:spPr>
          <a:xfrm>
            <a:off x="381000" y="1028700"/>
            <a:ext cx="39203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Componentes Principales</a:t>
            </a:r>
            <a:endParaRPr lang="en-US" sz="1800" dirty="0"/>
          </a:p>
        </p:txBody>
      </p:sp>
      <p:sp>
        <p:nvSpPr>
          <p:cNvPr id="21" name="Text 3"/>
          <p:cNvSpPr/>
          <p:nvPr/>
        </p:nvSpPr>
        <p:spPr>
          <a:xfrm>
            <a:off x="9590633" y="1085850"/>
            <a:ext cx="2664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Arquitectura modular y escalable</a:t>
            </a:r>
            <a:endParaRPr lang="en-US" sz="1050" dirty="0"/>
          </a:p>
        </p:txBody>
      </p:sp>
      <p:sp>
        <p:nvSpPr>
          <p:cNvPr id="22" name="Text 4"/>
          <p:cNvSpPr/>
          <p:nvPr/>
        </p:nvSpPr>
        <p:spPr>
          <a:xfrm>
            <a:off x="742950" y="5372100"/>
            <a:ext cx="347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Usuario</a:t>
            </a:r>
            <a:endParaRPr lang="en-US" sz="1350" dirty="0"/>
          </a:p>
        </p:txBody>
      </p:sp>
      <p:sp>
        <p:nvSpPr>
          <p:cNvPr id="23" name="Text 5"/>
          <p:cNvSpPr/>
          <p:nvPr/>
        </p:nvSpPr>
        <p:spPr>
          <a:xfrm>
            <a:off x="495300" y="5638800"/>
            <a:ext cx="347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Punto de partida de toda interacción, donde el cliente formula sus consultas.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4622750" y="5372100"/>
            <a:ext cx="347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Frontend</a:t>
            </a:r>
            <a:endParaRPr lang="en-US" sz="1350" dirty="0"/>
          </a:p>
        </p:txBody>
      </p:sp>
      <p:sp>
        <p:nvSpPr>
          <p:cNvPr id="25" name="Text 7"/>
          <p:cNvSpPr/>
          <p:nvPr/>
        </p:nvSpPr>
        <p:spPr>
          <a:xfrm>
            <a:off x="4356050" y="5638800"/>
            <a:ext cx="347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Interfaz de usuario (aplicación web o móvil) para la interacción con el agente virtual.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8512076" y="5372100"/>
            <a:ext cx="41758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Orquestador LangChain Agents</a:t>
            </a:r>
            <a:endParaRPr lang="en-US" sz="1350" dirty="0"/>
          </a:p>
        </p:txBody>
      </p:sp>
      <p:sp>
        <p:nvSpPr>
          <p:cNvPr id="27" name="Text 9"/>
          <p:cNvSpPr/>
          <p:nvPr/>
        </p:nvSpPr>
        <p:spPr>
          <a:xfrm>
            <a:off x="8216801" y="5638800"/>
            <a:ext cx="347989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Gestiona el flujo completo del pipeline RAG, implementando el paradigma ReAct (Razonamiento + Acción).</a:t>
            </a:r>
            <a:endParaRPr lang="en-US" sz="1050" dirty="0"/>
          </a:p>
        </p:txBody>
      </p:sp>
      <p:sp>
        <p:nvSpPr>
          <p:cNvPr id="28" name="Text 10"/>
          <p:cNvSpPr/>
          <p:nvPr/>
        </p:nvSpPr>
        <p:spPr>
          <a:xfrm>
            <a:off x="723900" y="6591300"/>
            <a:ext cx="4175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Vector DB (FAISS)</a:t>
            </a:r>
            <a:endParaRPr lang="en-US" sz="1350" dirty="0"/>
          </a:p>
        </p:txBody>
      </p:sp>
      <p:sp>
        <p:nvSpPr>
          <p:cNvPr id="29" name="Text 11"/>
          <p:cNvSpPr/>
          <p:nvPr/>
        </p:nvSpPr>
        <p:spPr>
          <a:xfrm>
            <a:off x="495300" y="6858000"/>
            <a:ext cx="347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 de datos vectorial que almacena los embeddings y permite búsqueda semántica.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4651325" y="6591300"/>
            <a:ext cx="347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LLM</a:t>
            </a:r>
            <a:endParaRPr lang="en-US" sz="1350" dirty="0"/>
          </a:p>
        </p:txBody>
      </p:sp>
      <p:sp>
        <p:nvSpPr>
          <p:cNvPr id="31" name="Text 13"/>
          <p:cNvSpPr/>
          <p:nvPr/>
        </p:nvSpPr>
        <p:spPr>
          <a:xfrm>
            <a:off x="4356050" y="6858000"/>
            <a:ext cx="347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Modelo de lenguaje que procesa la consulta y genera respuestas coherentes.</a:t>
            </a:r>
            <a:endParaRPr lang="en-US" sz="1050" dirty="0"/>
          </a:p>
        </p:txBody>
      </p:sp>
      <p:sp>
        <p:nvSpPr>
          <p:cNvPr id="32" name="Text 14"/>
          <p:cNvSpPr/>
          <p:nvPr/>
        </p:nvSpPr>
        <p:spPr>
          <a:xfrm>
            <a:off x="8426351" y="6591300"/>
            <a:ext cx="3479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Logger</a:t>
            </a:r>
            <a:endParaRPr lang="en-US" sz="1350" dirty="0"/>
          </a:p>
        </p:txBody>
      </p:sp>
      <p:sp>
        <p:nvSpPr>
          <p:cNvPr id="33" name="Text 15"/>
          <p:cNvSpPr/>
          <p:nvPr/>
        </p:nvSpPr>
        <p:spPr>
          <a:xfrm>
            <a:off x="8216801" y="6858000"/>
            <a:ext cx="34798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Sistema de registro que almacena todas las interacciones para validación y mejora.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6300"/>
            <a:ext cx="3810000" cy="2057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0668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1430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25527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0" y="876300"/>
            <a:ext cx="3810000" cy="2057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1500" y="10668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0088" y="1143000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1500" y="25527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3400" y="876300"/>
            <a:ext cx="3810000" cy="2057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3900" y="10668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43913" y="1143000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3900" y="24384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600" y="3086100"/>
            <a:ext cx="3810000" cy="3657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100" y="327660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3400" y="33528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9100" y="62484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91000" y="3086100"/>
            <a:ext cx="3810000" cy="36576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81500" y="32766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38663" y="3352800"/>
            <a:ext cx="142875" cy="3048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81500" y="63627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53400" y="3086100"/>
            <a:ext cx="3810000" cy="36576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43900" y="3962400"/>
            <a:ext cx="1638300" cy="11811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20100" y="4133850"/>
            <a:ext cx="190500" cy="2667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34600" y="3962400"/>
            <a:ext cx="1638300" cy="11811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10800" y="4038600"/>
            <a:ext cx="171450" cy="2667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43900" y="5295900"/>
            <a:ext cx="1638300" cy="11811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20100" y="5467350"/>
            <a:ext cx="190500" cy="26670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34600" y="5295900"/>
            <a:ext cx="1638300" cy="118110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210800" y="5467350"/>
            <a:ext cx="171450" cy="2667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304800" y="152400"/>
            <a:ext cx="3820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Decisiones Técnicas</a:t>
            </a:r>
            <a:endParaRPr lang="en-US" sz="2250" dirty="0"/>
          </a:p>
        </p:txBody>
      </p:sp>
      <p:sp>
        <p:nvSpPr>
          <p:cNvPr id="34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35" name="Text 2"/>
          <p:cNvSpPr/>
          <p:nvPr/>
        </p:nvSpPr>
        <p:spPr>
          <a:xfrm>
            <a:off x="1028700" y="1162050"/>
            <a:ext cx="26188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RAG sobre LLM puro</a:t>
            </a:r>
            <a:endParaRPr lang="en-US" sz="1500" dirty="0"/>
          </a:p>
        </p:txBody>
      </p:sp>
      <p:sp>
        <p:nvSpPr>
          <p:cNvPr id="36" name="Text 3"/>
          <p:cNvSpPr/>
          <p:nvPr/>
        </p:nvSpPr>
        <p:spPr>
          <a:xfrm>
            <a:off x="419100" y="1676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Arquitectura RAG para mitigar riesgo de "alucinaciones" del LLM.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647700" y="2514600"/>
            <a:ext cx="3090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Garantiza fiabilidad y trazabilidad</a:t>
            </a:r>
            <a:endParaRPr lang="en-US" sz="1200" dirty="0"/>
          </a:p>
        </p:txBody>
      </p:sp>
      <p:sp>
        <p:nvSpPr>
          <p:cNvPr id="38" name="Text 5"/>
          <p:cNvSpPr/>
          <p:nvPr/>
        </p:nvSpPr>
        <p:spPr>
          <a:xfrm>
            <a:off x="4991100" y="1162050"/>
            <a:ext cx="7109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FAISS</a:t>
            </a:r>
            <a:endParaRPr lang="en-US" sz="1500" dirty="0"/>
          </a:p>
        </p:txBody>
      </p:sp>
      <p:sp>
        <p:nvSpPr>
          <p:cNvPr id="39" name="Text 6"/>
          <p:cNvSpPr/>
          <p:nvPr/>
        </p:nvSpPr>
        <p:spPr>
          <a:xfrm>
            <a:off x="4381500" y="1676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 de datos vectorial gratuita y de código abierto.</a:t>
            </a:r>
            <a:endParaRPr lang="en-US" sz="1200" dirty="0"/>
          </a:p>
        </p:txBody>
      </p:sp>
      <p:sp>
        <p:nvSpPr>
          <p:cNvPr id="40" name="Text 7"/>
          <p:cNvSpPr/>
          <p:nvPr/>
        </p:nvSpPr>
        <p:spPr>
          <a:xfrm>
            <a:off x="4610100" y="2514600"/>
            <a:ext cx="3658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Alta eficiencia en búsqueda de similitud</a:t>
            </a: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8953500" y="1162050"/>
            <a:ext cx="32454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MiniLM para Embeddings</a:t>
            </a:r>
            <a:endParaRPr lang="en-US" sz="1500" dirty="0"/>
          </a:p>
        </p:txBody>
      </p:sp>
      <p:sp>
        <p:nvSpPr>
          <p:cNvPr id="42" name="Text 9"/>
          <p:cNvSpPr/>
          <p:nvPr/>
        </p:nvSpPr>
        <p:spPr>
          <a:xfrm>
            <a:off x="8343900" y="1676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Modelo que balancea precisión y costo computacional.</a:t>
            </a: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857250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Optimiza recursos sin comprometer calidad</a:t>
            </a:r>
            <a:endParaRPr lang="en-US" sz="1200" dirty="0"/>
          </a:p>
        </p:txBody>
      </p:sp>
      <p:sp>
        <p:nvSpPr>
          <p:cNvPr id="44" name="Text 11"/>
          <p:cNvSpPr/>
          <p:nvPr/>
        </p:nvSpPr>
        <p:spPr>
          <a:xfrm>
            <a:off x="1028700" y="3371850"/>
            <a:ext cx="30014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Tamaño de Fragmentos</a:t>
            </a:r>
            <a:endParaRPr lang="en-US" sz="1500" dirty="0"/>
          </a:p>
        </p:txBody>
      </p:sp>
      <p:sp>
        <p:nvSpPr>
          <p:cNvPr id="45" name="Text 12"/>
          <p:cNvSpPr/>
          <p:nvPr/>
        </p:nvSpPr>
        <p:spPr>
          <a:xfrm>
            <a:off x="419100" y="3886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600 tokens con 20% de solapamiento entre fragmentos.</a:t>
            </a:r>
            <a:endParaRPr lang="en-US" sz="1200" dirty="0"/>
          </a:p>
        </p:txBody>
      </p:sp>
      <p:sp>
        <p:nvSpPr>
          <p:cNvPr id="46" name="Text 13"/>
          <p:cNvSpPr/>
          <p:nvPr/>
        </p:nvSpPr>
        <p:spPr>
          <a:xfrm>
            <a:off x="647700" y="609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Captura contexto completo de especificaciones</a:t>
            </a:r>
            <a:endParaRPr lang="en-US" sz="1200" dirty="0"/>
          </a:p>
        </p:txBody>
      </p:sp>
      <p:sp>
        <p:nvSpPr>
          <p:cNvPr id="47" name="Text 14"/>
          <p:cNvSpPr/>
          <p:nvPr/>
        </p:nvSpPr>
        <p:spPr>
          <a:xfrm>
            <a:off x="4991100" y="3371850"/>
            <a:ext cx="27185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Temperatura del LLM</a:t>
            </a:r>
            <a:endParaRPr lang="en-US" sz="1500" dirty="0"/>
          </a:p>
        </p:txBody>
      </p:sp>
      <p:sp>
        <p:nvSpPr>
          <p:cNvPr id="48" name="Text 15"/>
          <p:cNvSpPr/>
          <p:nvPr/>
        </p:nvSpPr>
        <p:spPr>
          <a:xfrm>
            <a:off x="4381500" y="38862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Valor de 0.1 para respuestas más deterministas y basadas en hechos.</a:t>
            </a:r>
            <a:endParaRPr lang="en-US" sz="1200" dirty="0"/>
          </a:p>
        </p:txBody>
      </p:sp>
      <p:sp>
        <p:nvSpPr>
          <p:cNvPr id="49" name="Text 16"/>
          <p:cNvSpPr/>
          <p:nvPr/>
        </p:nvSpPr>
        <p:spPr>
          <a:xfrm>
            <a:off x="4610100" y="6324600"/>
            <a:ext cx="3611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Minimiza creatividad, prioriza exactitud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8343900" y="3276600"/>
            <a:ext cx="342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8E2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Resultados de Pruebas de Rendimiento</a:t>
            </a:r>
            <a:endParaRPr lang="en-US" sz="1500" dirty="0"/>
          </a:p>
        </p:txBody>
      </p:sp>
      <p:sp>
        <p:nvSpPr>
          <p:cNvPr id="51" name="Text 18"/>
          <p:cNvSpPr/>
          <p:nvPr/>
        </p:nvSpPr>
        <p:spPr>
          <a:xfrm>
            <a:off x="8686800" y="40386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Latencia Respuesta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8420100" y="4495800"/>
            <a:ext cx="1485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1.2 segundos de media para consultas complejas</a:t>
            </a:r>
            <a:endParaRPr lang="en-US" sz="1050" dirty="0"/>
          </a:p>
        </p:txBody>
      </p:sp>
      <p:sp>
        <p:nvSpPr>
          <p:cNvPr id="53" name="Text 20"/>
          <p:cNvSpPr/>
          <p:nvPr/>
        </p:nvSpPr>
        <p:spPr>
          <a:xfrm>
            <a:off x="10458450" y="4057650"/>
            <a:ext cx="973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Exactitud</a:t>
            </a:r>
            <a:endParaRPr lang="en-US" sz="1200" dirty="0"/>
          </a:p>
        </p:txBody>
      </p:sp>
      <p:sp>
        <p:nvSpPr>
          <p:cNvPr id="54" name="Text 21"/>
          <p:cNvSpPr/>
          <p:nvPr/>
        </p:nvSpPr>
        <p:spPr>
          <a:xfrm>
            <a:off x="10210800" y="4305300"/>
            <a:ext cx="1485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94% de precisión en respuestas correctas</a:t>
            </a:r>
            <a:endParaRPr lang="en-US" sz="1050" dirty="0"/>
          </a:p>
        </p:txBody>
      </p:sp>
      <p:sp>
        <p:nvSpPr>
          <p:cNvPr id="55" name="Text 22"/>
          <p:cNvSpPr/>
          <p:nvPr/>
        </p:nvSpPr>
        <p:spPr>
          <a:xfrm>
            <a:off x="8686800" y="5372100"/>
            <a:ext cx="121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Uso de Memoria</a:t>
            </a:r>
            <a:endParaRPr lang="en-US" sz="1200" dirty="0"/>
          </a:p>
        </p:txBody>
      </p:sp>
      <p:sp>
        <p:nvSpPr>
          <p:cNvPr id="56" name="Text 23"/>
          <p:cNvSpPr/>
          <p:nvPr/>
        </p:nvSpPr>
        <p:spPr>
          <a:xfrm>
            <a:off x="8420100" y="5829300"/>
            <a:ext cx="1485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Optimizado para recuperación en memoria corto plazo</a:t>
            </a:r>
            <a:endParaRPr lang="en-US" sz="1050" dirty="0"/>
          </a:p>
        </p:txBody>
      </p:sp>
      <p:sp>
        <p:nvSpPr>
          <p:cNvPr id="57" name="Text 24"/>
          <p:cNvSpPr/>
          <p:nvPr/>
        </p:nvSpPr>
        <p:spPr>
          <a:xfrm>
            <a:off x="10458450" y="5372100"/>
            <a:ext cx="1238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Planificación Dinámica</a:t>
            </a:r>
            <a:endParaRPr lang="en-US" sz="1200" dirty="0"/>
          </a:p>
        </p:txBody>
      </p:sp>
      <p:sp>
        <p:nvSpPr>
          <p:cNvPr id="58" name="Text 25"/>
          <p:cNvSpPr/>
          <p:nvPr/>
        </p:nvSpPr>
        <p:spPr>
          <a:xfrm>
            <a:off x="10210800" y="5829300"/>
            <a:ext cx="1485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Ciclo de respuesta adaptativo (±12% mejor rendimiento)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52500"/>
            <a:ext cx="5676900" cy="2476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1430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1219200"/>
            <a:ext cx="17145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952500"/>
            <a:ext cx="5676900" cy="2476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1430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0813" y="121920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752600"/>
            <a:ext cx="5295900" cy="13335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1426" y="1905000"/>
            <a:ext cx="514350" cy="4572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3657600"/>
            <a:ext cx="5676900" cy="2628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38481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9243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4457700"/>
            <a:ext cx="5295900" cy="1485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4648200"/>
            <a:ext cx="30480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3425" y="4724400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6800" y="4610100"/>
            <a:ext cx="4572000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" y="5105400"/>
            <a:ext cx="190500" cy="304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" y="5181600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2500" y="5067300"/>
            <a:ext cx="4686300" cy="7239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10300" y="3657600"/>
            <a:ext cx="5676900" cy="26289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3848100"/>
            <a:ext cx="457200" cy="4572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29388" y="3924300"/>
            <a:ext cx="200025" cy="3048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4457700"/>
            <a:ext cx="5295900" cy="16383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3200" y="4610100"/>
            <a:ext cx="4991100" cy="4572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304800" y="152400"/>
            <a:ext cx="46028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Evidencias del Proyecto</a:t>
            </a:r>
            <a:endParaRPr lang="en-US" sz="2250" dirty="0"/>
          </a:p>
        </p:txBody>
      </p:sp>
      <p:sp>
        <p:nvSpPr>
          <p:cNvPr id="28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29" name="Text 2"/>
          <p:cNvSpPr/>
          <p:nvPr/>
        </p:nvSpPr>
        <p:spPr>
          <a:xfrm>
            <a:off x="1104900" y="1238250"/>
            <a:ext cx="30248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Documentación Técnica</a:t>
            </a:r>
            <a:endParaRPr lang="en-US" sz="1500" dirty="0"/>
          </a:p>
        </p:txBody>
      </p:sp>
      <p:sp>
        <p:nvSpPr>
          <p:cNvPr id="30" name="Text 3"/>
          <p:cNvSpPr/>
          <p:nvPr/>
        </p:nvSpPr>
        <p:spPr>
          <a:xfrm>
            <a:off x="533400" y="17526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Redacción técnica clara y concisa</a:t>
            </a:r>
            <a:endParaRPr lang="en-US" sz="1200" dirty="0"/>
          </a:p>
        </p:txBody>
      </p:sp>
      <p:sp>
        <p:nvSpPr>
          <p:cNvPr id="31" name="Text 4"/>
          <p:cNvSpPr/>
          <p:nvPr/>
        </p:nvSpPr>
        <p:spPr>
          <a:xfrm>
            <a:off x="533400" y="1981200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Diagramas de flujo del sistema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533400" y="22098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Esquemas de arquitectura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3181648" y="3048000"/>
            <a:ext cx="31314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Incluye ejemplos de prompts utilizados</a:t>
            </a:r>
            <a:endParaRPr lang="en-US" sz="1050" dirty="0"/>
          </a:p>
        </p:txBody>
      </p:sp>
      <p:sp>
        <p:nvSpPr>
          <p:cNvPr id="34" name="Text 7"/>
          <p:cNvSpPr/>
          <p:nvPr/>
        </p:nvSpPr>
        <p:spPr>
          <a:xfrm>
            <a:off x="7010400" y="1238250"/>
            <a:ext cx="2271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Capturas de Flujo</a:t>
            </a:r>
            <a:endParaRPr lang="en-US" sz="1500" dirty="0"/>
          </a:p>
        </p:txBody>
      </p:sp>
      <p:sp>
        <p:nvSpPr>
          <p:cNvPr id="35" name="Text 8"/>
          <p:cNvSpPr/>
          <p:nvPr/>
        </p:nvSpPr>
        <p:spPr>
          <a:xfrm>
            <a:off x="6366287" y="2438400"/>
            <a:ext cx="5364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Capturas de pantalla del agente virtual en funcionamiento</a:t>
            </a:r>
            <a:endParaRPr lang="en-US" sz="1200" dirty="0"/>
          </a:p>
        </p:txBody>
      </p:sp>
      <p:sp>
        <p:nvSpPr>
          <p:cNvPr id="36" name="Text 9"/>
          <p:cNvSpPr/>
          <p:nvPr/>
        </p:nvSpPr>
        <p:spPr>
          <a:xfrm>
            <a:off x="6366287" y="2743200"/>
            <a:ext cx="53647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Ilustrando la interacción del usuario y el proceso de consulta</a:t>
            </a:r>
            <a:endParaRPr lang="en-US" sz="1050" dirty="0"/>
          </a:p>
        </p:txBody>
      </p:sp>
      <p:sp>
        <p:nvSpPr>
          <p:cNvPr id="37" name="Text 10"/>
          <p:cNvSpPr/>
          <p:nvPr/>
        </p:nvSpPr>
        <p:spPr>
          <a:xfrm>
            <a:off x="1104900" y="3943350"/>
            <a:ext cx="41999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Ejemplos de Respuestas del LLM</a:t>
            </a:r>
            <a:endParaRPr lang="en-US" sz="1500" dirty="0"/>
          </a:p>
        </p:txBody>
      </p:sp>
      <p:sp>
        <p:nvSpPr>
          <p:cNvPr id="38" name="Text 11"/>
          <p:cNvSpPr/>
          <p:nvPr/>
        </p:nvSpPr>
        <p:spPr>
          <a:xfrm>
            <a:off x="1143000" y="4686300"/>
            <a:ext cx="53035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¿Cuál es la garantía de la sierra circular Bosch GKS 190?</a:t>
            </a:r>
            <a:endParaRPr lang="en-US" sz="1050" dirty="0"/>
          </a:p>
        </p:txBody>
      </p:sp>
      <p:sp>
        <p:nvSpPr>
          <p:cNvPr id="39" name="Text 12"/>
          <p:cNvSpPr/>
          <p:nvPr/>
        </p:nvSpPr>
        <p:spPr>
          <a:xfrm>
            <a:off x="1028700" y="5143500"/>
            <a:ext cx="453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sierra circular Bosch GKS 190 cuenta con una garantía de 1 año. (Fuente: Ficha Técnica Sierra Circular Bosch GKS 190, Sodimac.com)</a:t>
            </a:r>
            <a:endParaRPr lang="en-US" sz="1050" dirty="0"/>
          </a:p>
        </p:txBody>
      </p:sp>
      <p:sp>
        <p:nvSpPr>
          <p:cNvPr id="40" name="Text 13"/>
          <p:cNvSpPr/>
          <p:nvPr/>
        </p:nvSpPr>
        <p:spPr>
          <a:xfrm>
            <a:off x="7010400" y="3943350"/>
            <a:ext cx="38574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Registros de Consultas (Logs)</a:t>
            </a:r>
            <a:endParaRPr lang="en-US" sz="1500" dirty="0"/>
          </a:p>
        </p:txBody>
      </p:sp>
      <p:sp>
        <p:nvSpPr>
          <p:cNvPr id="41" name="Text 14"/>
          <p:cNvSpPr/>
          <p:nvPr/>
        </p:nvSpPr>
        <p:spPr>
          <a:xfrm>
            <a:off x="6667500" y="4610100"/>
            <a:ext cx="17563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PREGUNTA</a:t>
            </a:r>
            <a:endParaRPr lang="en-US" sz="900" dirty="0"/>
          </a:p>
        </p:txBody>
      </p:sp>
      <p:sp>
        <p:nvSpPr>
          <p:cNvPr id="42" name="Text 15"/>
          <p:cNvSpPr/>
          <p:nvPr/>
        </p:nvSpPr>
        <p:spPr>
          <a:xfrm>
            <a:off x="8423821" y="4610100"/>
            <a:ext cx="16832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FRAGMENTOS RECUPERADOS</a:t>
            </a:r>
            <a:endParaRPr lang="en-US" sz="900" dirty="0"/>
          </a:p>
        </p:txBody>
      </p:sp>
      <p:sp>
        <p:nvSpPr>
          <p:cNvPr id="43" name="Text 16"/>
          <p:cNvSpPr/>
          <p:nvPr/>
        </p:nvSpPr>
        <p:spPr>
          <a:xfrm>
            <a:off x="10107067" y="4610100"/>
            <a:ext cx="10672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RESPUESTA</a:t>
            </a:r>
            <a:endParaRPr lang="en-US" sz="900" dirty="0"/>
          </a:p>
        </p:txBody>
      </p:sp>
      <p:sp>
        <p:nvSpPr>
          <p:cNvPr id="44" name="Text 17"/>
          <p:cNvSpPr/>
          <p:nvPr/>
        </p:nvSpPr>
        <p:spPr>
          <a:xfrm>
            <a:off x="10996464" y="4610100"/>
            <a:ext cx="794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TIEMPO</a:t>
            </a:r>
            <a:endParaRPr lang="en-US" sz="900" dirty="0"/>
          </a:p>
        </p:txBody>
      </p:sp>
      <p:sp>
        <p:nvSpPr>
          <p:cNvPr id="45" name="Text 18"/>
          <p:cNvSpPr/>
          <p:nvPr/>
        </p:nvSpPr>
        <p:spPr>
          <a:xfrm>
            <a:off x="6667500" y="5067300"/>
            <a:ext cx="1756321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¿Cuál es la garantía de la sierra circular Bosch GKS 190?</a:t>
            </a:r>
            <a:endParaRPr lang="en-US" sz="1050" dirty="0"/>
          </a:p>
        </p:txBody>
      </p:sp>
      <p:sp>
        <p:nvSpPr>
          <p:cNvPr id="46" name="Text 19"/>
          <p:cNvSpPr/>
          <p:nvPr/>
        </p:nvSpPr>
        <p:spPr>
          <a:xfrm>
            <a:off x="8423821" y="5067300"/>
            <a:ext cx="168324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Ficha Técnica Sierra Circular Bosch GKS 190</a:t>
            </a:r>
            <a:endParaRPr lang="en-US" sz="1050" dirty="0"/>
          </a:p>
        </p:txBody>
      </p:sp>
      <p:sp>
        <p:nvSpPr>
          <p:cNvPr id="47" name="Text 20"/>
          <p:cNvSpPr/>
          <p:nvPr/>
        </p:nvSpPr>
        <p:spPr>
          <a:xfrm>
            <a:off x="10107067" y="5067300"/>
            <a:ext cx="1067276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 año</a:t>
            </a:r>
            <a:endParaRPr lang="en-US" sz="1050" dirty="0"/>
          </a:p>
        </p:txBody>
      </p:sp>
      <p:sp>
        <p:nvSpPr>
          <p:cNvPr id="48" name="Text 21"/>
          <p:cNvSpPr/>
          <p:nvPr/>
        </p:nvSpPr>
        <p:spPr>
          <a:xfrm>
            <a:off x="10996464" y="5067300"/>
            <a:ext cx="794564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0.45s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52500"/>
            <a:ext cx="5562600" cy="5600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219200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714500"/>
            <a:ext cx="5105400" cy="1295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866900"/>
            <a:ext cx="390525" cy="4191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943100"/>
            <a:ext cx="238125" cy="266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162300"/>
            <a:ext cx="5105400" cy="1066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314700"/>
            <a:ext cx="390525" cy="4191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390900"/>
            <a:ext cx="238125" cy="266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4381500"/>
            <a:ext cx="5105400" cy="1295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533900"/>
            <a:ext cx="342900" cy="4191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61010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952500"/>
            <a:ext cx="5562600" cy="5600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1219200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1714500"/>
            <a:ext cx="5105400" cy="1828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3924300"/>
            <a:ext cx="285750" cy="3810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29400" y="4029075"/>
            <a:ext cx="13335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3200" y="4648200"/>
            <a:ext cx="304800" cy="3810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29400" y="4752975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3200" y="5257800"/>
            <a:ext cx="266700" cy="3810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29400" y="5362575"/>
            <a:ext cx="114300" cy="1524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04800" y="152400"/>
            <a:ext cx="478149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Reflexión y Aprendizajes</a:t>
            </a:r>
            <a:endParaRPr lang="en-US" sz="2250" dirty="0"/>
          </a:p>
        </p:txBody>
      </p:sp>
      <p:sp>
        <p:nvSpPr>
          <p:cNvPr id="25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26" name="Text 2"/>
          <p:cNvSpPr/>
          <p:nvPr/>
        </p:nvSpPr>
        <p:spPr>
          <a:xfrm>
            <a:off x="933450" y="1181100"/>
            <a:ext cx="6126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Aprendizajes Principales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1228725" y="1866900"/>
            <a:ext cx="51092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Diseño de Prompts Optimizados</a:t>
            </a:r>
            <a:endParaRPr lang="en-US" sz="1350" dirty="0"/>
          </a:p>
        </p:txBody>
      </p:sp>
      <p:sp>
        <p:nvSpPr>
          <p:cNvPr id="28" name="Text 4"/>
          <p:cNvSpPr/>
          <p:nvPr/>
        </p:nvSpPr>
        <p:spPr>
          <a:xfrm>
            <a:off x="1228725" y="2171700"/>
            <a:ext cx="42576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Dominio del diseño de prompts para controlar el comportamiento del LLM y asegurar respuestas precisas y relevantes.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1228725" y="3314700"/>
            <a:ext cx="51092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Implementación de Pipeline RAG</a:t>
            </a:r>
            <a:endParaRPr lang="en-US" sz="1350" dirty="0"/>
          </a:p>
        </p:txBody>
      </p:sp>
      <p:sp>
        <p:nvSpPr>
          <p:cNvPr id="30" name="Text 6"/>
          <p:cNvSpPr/>
          <p:nvPr/>
        </p:nvSpPr>
        <p:spPr>
          <a:xfrm>
            <a:off x="1228725" y="3619500"/>
            <a:ext cx="4257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Desarrollo práctico y robusto de un pipeline RAG de extremo a extremo, desde ingesta hasta consulta.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1181100" y="4533900"/>
            <a:ext cx="5166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Interacción de Componentes de IA</a:t>
            </a:r>
            <a:endParaRPr lang="en-US" sz="1350" dirty="0"/>
          </a:p>
        </p:txBody>
      </p:sp>
      <p:sp>
        <p:nvSpPr>
          <p:cNvPr id="32" name="Text 8"/>
          <p:cNvSpPr/>
          <p:nvPr/>
        </p:nvSpPr>
        <p:spPr>
          <a:xfrm>
            <a:off x="1181100" y="4838700"/>
            <a:ext cx="4305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Comprensión profunda de la interacción entre componentes de IA para soluciones empresariales efectivas.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6896100" y="1181100"/>
            <a:ext cx="510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Valor del Proyecto</a:t>
            </a:r>
            <a:endParaRPr lang="en-US" sz="1800" dirty="0"/>
          </a:p>
        </p:txBody>
      </p:sp>
      <p:sp>
        <p:nvSpPr>
          <p:cNvPr id="34" name="Text 10"/>
          <p:cNvSpPr/>
          <p:nvPr/>
        </p:nvSpPr>
        <p:spPr>
          <a:xfrm>
            <a:off x="6953250" y="3771900"/>
            <a:ext cx="4705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Centralización del Conocimiento: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Demuestra el potencial de la IA para centralizar el conocimiento disperso de la empresa.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6972300" y="46101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Mejora la Atención: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Significativa mejora en la calidad y velocidad de la atención al cliente.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6934200" y="5219700"/>
            <a:ext cx="472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 para Futuras Innovaciones: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Establece una base para futuras innovaciones en la interacción con el cliente.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952500"/>
            <a:ext cx="5676900" cy="1562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181100"/>
            <a:ext cx="390525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" y="1895475"/>
            <a:ext cx="171450" cy="1333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325" y="2124075"/>
            <a:ext cx="114300" cy="1333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2743200"/>
            <a:ext cx="5676900" cy="1562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971800"/>
            <a:ext cx="428625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425" y="36861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425" y="3914775"/>
            <a:ext cx="114300" cy="1333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952500"/>
            <a:ext cx="5676900" cy="3352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181100"/>
            <a:ext cx="30480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96100" y="2219325"/>
            <a:ext cx="104775" cy="1333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96100" y="2543175"/>
            <a:ext cx="114300" cy="1333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6100" y="2771775"/>
            <a:ext cx="123825" cy="1333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59670" y="6515100"/>
            <a:ext cx="7472511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88270" y="6610350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04800" y="152400"/>
            <a:ext cx="22804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Referencias</a:t>
            </a:r>
            <a:endParaRPr lang="en-US" sz="2250" dirty="0"/>
          </a:p>
        </p:txBody>
      </p:sp>
      <p:sp>
        <p:nvSpPr>
          <p:cNvPr id="21" name="Text 1"/>
          <p:cNvSpPr/>
          <p:nvPr/>
        </p:nvSpPr>
        <p:spPr>
          <a:xfrm>
            <a:off x="7881789" y="228600"/>
            <a:ext cx="4806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Agente Virtual Sodimac | Desarrollo de Aplicaciones Móviles</a:t>
            </a:r>
            <a:endParaRPr lang="en-US" sz="1050" dirty="0"/>
          </a:p>
        </p:txBody>
      </p:sp>
      <p:sp>
        <p:nvSpPr>
          <p:cNvPr id="22" name="Text 2"/>
          <p:cNvSpPr/>
          <p:nvPr/>
        </p:nvSpPr>
        <p:spPr>
          <a:xfrm>
            <a:off x="1076325" y="1181100"/>
            <a:ext cx="411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Sodimac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076325" y="1524000"/>
            <a:ext cx="4933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Catálogo y fichas técnicas de productos.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1323975" y="1866900"/>
            <a:ext cx="46361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Sodimac en Falabella.com | Todo en Hogar y Construcción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1266825" y="2095500"/>
            <a:ext cx="4073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</a:t>
            </a:r>
            <a:endParaRPr lang="en-US" sz="1050" dirty="0"/>
          </a:p>
        </p:txBody>
      </p:sp>
      <p:sp>
        <p:nvSpPr>
          <p:cNvPr id="26" name="Text 6"/>
          <p:cNvSpPr/>
          <p:nvPr/>
        </p:nvSpPr>
        <p:spPr>
          <a:xfrm>
            <a:off x="1114425" y="2971800"/>
            <a:ext cx="2467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1114425" y="3314700"/>
            <a:ext cx="24670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Documentation.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1362075" y="3657600"/>
            <a:ext cx="2169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Home - Docs by LangChain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1304925" y="3886200"/>
            <a:ext cx="4073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6896100" y="1181100"/>
            <a:ext cx="571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Reimers, N., &amp; Gurevych, I.</a:t>
            </a:r>
            <a:endParaRPr lang="en-US" sz="1500" dirty="0"/>
          </a:p>
        </p:txBody>
      </p:sp>
      <p:sp>
        <p:nvSpPr>
          <p:cNvPr id="31" name="Text 11"/>
          <p:cNvSpPr/>
          <p:nvPr/>
        </p:nvSpPr>
        <p:spPr>
          <a:xfrm>
            <a:off x="6896100" y="1524000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Sentence-BERT: Sentence embeddings using Siamese BERT-networks.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7077075" y="2095500"/>
            <a:ext cx="4581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Proceedings of the 2019 Conference on Empirical Methods in Natural Language Processing (EMNLP)</a:t>
            </a:r>
            <a:endParaRPr lang="en-US" sz="1050" dirty="0"/>
          </a:p>
        </p:txBody>
      </p:sp>
      <p:sp>
        <p:nvSpPr>
          <p:cNvPr id="33" name="Text 13"/>
          <p:cNvSpPr/>
          <p:nvPr/>
        </p:nvSpPr>
        <p:spPr>
          <a:xfrm>
            <a:off x="7086600" y="2514600"/>
            <a:ext cx="4073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2019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7096125" y="2743200"/>
            <a:ext cx="12851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Academic Paper</a:t>
            </a:r>
            <a:endParaRPr lang="en-US" sz="1050" dirty="0"/>
          </a:p>
        </p:txBody>
      </p:sp>
      <p:sp>
        <p:nvSpPr>
          <p:cNvPr id="35" name="Text 15"/>
          <p:cNvSpPr/>
          <p:nvPr/>
        </p:nvSpPr>
        <p:spPr>
          <a:xfrm>
            <a:off x="2816870" y="6591300"/>
            <a:ext cx="8144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Estas referencias sustentan el desarrollo técnico y conceptual del proyecto "Agente Virtual Sodimac".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2025-11-26T21:21:47Z</dcterms:created>
  <dcterms:modified xsi:type="dcterms:W3CDTF">2025-11-26T21:21:47Z</dcterms:modified>
</cp:coreProperties>
</file>